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A33"/>
          </a:solidFill>
          <a:ln w="9525">
            <a:solidFill>
              <a:srgbClr val="091A33"/>
            </a:solidFill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8191500" y="-1524000"/>
            <a:ext cx="4953000" cy="4953000"/>
          </a:xfrm>
          <a:prstGeom prst="ellipse">
            <a:avLst/>
          </a:prstGeom>
          <a:solidFill>
            <a:srgbClr val="123767"/>
          </a:solidFill>
          <a:ln w="9525">
            <a:solidFill>
              <a:srgbClr val="123767"/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-1524000" y="4191000"/>
            <a:ext cx="4000500" cy="4000500"/>
          </a:xfrm>
          <a:prstGeom prst="ellipse">
            <a:avLst/>
          </a:prstGeom>
          <a:solidFill>
            <a:srgbClr val="0E3B4C"/>
          </a:solidFill>
          <a:ln w="9525">
            <a:solidFill>
              <a:srgbClr val="0E3B4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685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DOCUMENT INTELLIGENCE SYSTEM</a:t>
            </a:r>
            <a:endParaRPr sz="1050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1543050"/>
            <a:ext cx="6191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3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文档智能系统</a:t>
            </a:r>
            <a:endParaRPr sz="43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43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43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314325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面向文档库管理、智能对话与工作流编排的一体化处理平台</a:t>
            </a:r>
            <a:endParaRPr sz="1650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62000" y="3848100"/>
            <a:ext cx="1143000" cy="361950"/>
          </a:xfrm>
          <a:prstGeom prst="roundRect">
            <a:avLst>
              <a:gd name="adj" fmla="val 50000"/>
            </a:avLst>
          </a:prstGeom>
          <a:solidFill>
            <a:srgbClr val="0D1B33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62000" y="392430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文档库</a:t>
            </a:r>
            <a:endParaRPr sz="112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076450" y="3848100"/>
            <a:ext cx="1295400" cy="361950"/>
          </a:xfrm>
          <a:prstGeom prst="roundRect">
            <a:avLst>
              <a:gd name="adj" fmla="val 50000"/>
            </a:avLst>
          </a:prstGeom>
          <a:solidFill>
            <a:srgbClr val="0D1B33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076450" y="3924300"/>
            <a:ext cx="1295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智能对话</a:t>
            </a:r>
            <a:endParaRPr sz="112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543300" y="3848100"/>
            <a:ext cx="1504950" cy="361950"/>
          </a:xfrm>
          <a:prstGeom prst="roundRect">
            <a:avLst>
              <a:gd name="adj" fmla="val 50000"/>
            </a:avLst>
          </a:prstGeom>
          <a:solidFill>
            <a:srgbClr val="0D1B33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543300" y="3924300"/>
            <a:ext cx="1504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工作流编排</a:t>
            </a:r>
            <a:endParaRPr sz="112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62000" y="575310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Vue3 · FastAPI · PostgreSQL · LLM · 对象存储</a:t>
            </a:r>
            <a:endParaRPr sz="1350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9525">
            <a:solidFill>
              <a:srgbClr val="07111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B2142"/>
          </a:solidFill>
          <a:ln w="9525">
            <a:solidFill>
              <a:srgbClr val="0B214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990600"/>
            <a:ext cx="12192000" cy="19050"/>
          </a:xfrm>
          <a:prstGeom prst="rect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6343650"/>
            <a:ext cx="12192000" cy="514350"/>
          </a:xfrm>
          <a:prstGeom prst="rect">
            <a:avLst/>
          </a:prstGeom>
          <a:solidFill>
            <a:srgbClr val="06101F"/>
          </a:solidFill>
          <a:ln w="9525">
            <a:solidFill>
              <a:srgbClr val="06101F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266700" y="3200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762000" y="2095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1257300" y="5562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752600" y="4457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2247900" y="3352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743200" y="22479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3238500" y="57150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3733800" y="46101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4229100" y="35052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4724400" y="24003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5219700" y="5867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5715000" y="4762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6210300" y="3657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6705600" y="2552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7200900" y="1447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7696200" y="49149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8191500" y="38100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8686800" y="27051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9182100" y="16002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9677400" y="50673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10172700" y="3962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10668000" y="2857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11163300" y="1752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11658600" y="5219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12153900" y="4114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66750" y="6524625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7181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>
                <a:solidFill>
                  <a:srgbClr val="7181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文档智能系统答辩报告</a:t>
            </a:r>
            <a:endParaRPr sz="825">
              <a:solidFill>
                <a:srgbClr val="7181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1201400" y="64865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66750" y="323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PROJECT GOAL</a:t>
            </a:r>
            <a:endParaRPr sz="97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66750" y="5810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项目背景与建设目标</a:t>
            </a:r>
            <a:endParaRPr sz="24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020050" y="581025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从单点工具到文档处理闭环</a:t>
            </a:r>
            <a:endParaRPr sz="112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666750" y="1428750"/>
            <a:ext cx="3429000" cy="1409700"/>
          </a:xfrm>
          <a:prstGeom prst="roundRect">
            <a:avLst>
              <a:gd name="adj" fmla="val 8108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1428750"/>
            <a:ext cx="47625" cy="140970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95350" y="1619250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业务痛点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95350" y="1981200"/>
            <a:ext cx="30099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文档格式多、内容分散，人工查找、摘要、翻译、提取和输出耗时。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4381500" y="1428750"/>
            <a:ext cx="3429000" cy="1409700"/>
          </a:xfrm>
          <a:prstGeom prst="roundRect">
            <a:avLst>
              <a:gd name="adj" fmla="val 8108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4381500" y="1428750"/>
            <a:ext cx="47625" cy="1409700"/>
          </a:xfrm>
          <a:prstGeom prst="rect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4610100" y="1619250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建设目标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610100" y="1981200"/>
            <a:ext cx="30099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提供从文档入库、对话理解到流程化处理的统一入口。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8096250" y="1428750"/>
            <a:ext cx="3429000" cy="1409700"/>
          </a:xfrm>
          <a:prstGeom prst="roundRect">
            <a:avLst>
              <a:gd name="adj" fmla="val 8108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096250" y="1428750"/>
            <a:ext cx="47625" cy="140970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324850" y="1619250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系统价值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324850" y="1981200"/>
            <a:ext cx="30099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降低重复操作成本，让复杂文档处理可配置、可追踪、可复用。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76300" y="3333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核心闭环</a:t>
            </a:r>
            <a:endParaRPr sz="18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椭圆 48"/>
          <p:cNvSpPr>
            <a:spLocks noGrp="1"/>
          </p:cNvSpPr>
          <p:nvPr/>
        </p:nvSpPr>
        <p:spPr>
          <a:xfrm>
            <a:off x="809625" y="4095750"/>
            <a:ext cx="857250" cy="857250"/>
          </a:xfrm>
          <a:prstGeom prst="ellipse">
            <a:avLst/>
          </a:prstGeom>
          <a:solidFill>
            <a:srgbClr val="0D1B33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66750" y="44100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文档入库</a:t>
            </a:r>
            <a:endParaRPr sz="12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733550" y="4514850"/>
            <a:ext cx="1257300" cy="28575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2" name="椭圆 51"/>
          <p:cNvSpPr>
            <a:spLocks noGrp="1"/>
          </p:cNvSpPr>
          <p:nvPr/>
        </p:nvSpPr>
        <p:spPr>
          <a:xfrm>
            <a:off x="3095625" y="4095750"/>
            <a:ext cx="857250" cy="857250"/>
          </a:xfrm>
          <a:prstGeom prst="ellipse">
            <a:avLst/>
          </a:prstGeom>
          <a:solidFill>
            <a:srgbClr val="0D1B33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2952750" y="44100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文档选择</a:t>
            </a:r>
            <a:endParaRPr sz="12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4019550" y="4514850"/>
            <a:ext cx="1257300" cy="28575"/>
          </a:xfrm>
          <a:prstGeom prst="rect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55" name="椭圆 54"/>
          <p:cNvSpPr>
            <a:spLocks noGrp="1"/>
          </p:cNvSpPr>
          <p:nvPr/>
        </p:nvSpPr>
        <p:spPr>
          <a:xfrm>
            <a:off x="5381625" y="4095750"/>
            <a:ext cx="857250" cy="857250"/>
          </a:xfrm>
          <a:prstGeom prst="ellipse">
            <a:avLst/>
          </a:prstGeom>
          <a:solidFill>
            <a:srgbClr val="0D1B33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5238750" y="44100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智能理解</a:t>
            </a:r>
            <a:endParaRPr sz="12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6305550" y="4514850"/>
            <a:ext cx="1257300" cy="28575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58" name="椭圆 57"/>
          <p:cNvSpPr>
            <a:spLocks noGrp="1"/>
          </p:cNvSpPr>
          <p:nvPr/>
        </p:nvSpPr>
        <p:spPr>
          <a:xfrm>
            <a:off x="7667625" y="4095750"/>
            <a:ext cx="857250" cy="857250"/>
          </a:xfrm>
          <a:prstGeom prst="ellipse">
            <a:avLst/>
          </a:prstGeom>
          <a:solidFill>
            <a:srgbClr val="0D1B33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7524750" y="44100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流程处理</a:t>
            </a:r>
            <a:endParaRPr sz="12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591550" y="4514850"/>
            <a:ext cx="1257300" cy="28575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1" name="椭圆 60"/>
          <p:cNvSpPr>
            <a:spLocks noGrp="1"/>
          </p:cNvSpPr>
          <p:nvPr/>
        </p:nvSpPr>
        <p:spPr>
          <a:xfrm>
            <a:off x="9953625" y="4095750"/>
            <a:ext cx="857250" cy="857250"/>
          </a:xfrm>
          <a:prstGeom prst="ellipse">
            <a:avLst/>
          </a:prstGeom>
          <a:solidFill>
            <a:srgbClr val="0D1B33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9810750" y="44100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结果输出</a:t>
            </a:r>
            <a:endParaRPr sz="12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1809750" y="55245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系统不是单纯上传和聊天，而是围绕“文档资产”建立可持续复用的处理链路。</a:t>
            </a:r>
            <a:endParaRPr sz="1500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9525">
            <a:solidFill>
              <a:srgbClr val="07111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B2142"/>
          </a:solidFill>
          <a:ln w="9525">
            <a:solidFill>
              <a:srgbClr val="0B214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990600"/>
            <a:ext cx="12192000" cy="19050"/>
          </a:xfrm>
          <a:prstGeom prst="rect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6343650"/>
            <a:ext cx="12192000" cy="514350"/>
          </a:xfrm>
          <a:prstGeom prst="rect">
            <a:avLst/>
          </a:prstGeom>
          <a:solidFill>
            <a:srgbClr val="06101F"/>
          </a:solidFill>
          <a:ln w="9525">
            <a:solidFill>
              <a:srgbClr val="06101F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266700" y="3200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762000" y="2095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1257300" y="5562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752600" y="4457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2247900" y="3352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743200" y="22479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3238500" y="57150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3733800" y="46101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4229100" y="35052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4724400" y="24003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5219700" y="5867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5715000" y="4762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6210300" y="3657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6705600" y="2552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7200900" y="1447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7696200" y="49149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8191500" y="38100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8686800" y="27051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9182100" y="16002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9677400" y="50673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10172700" y="3962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10668000" y="2857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11163300" y="1752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11658600" y="5219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12153900" y="4114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66750" y="6524625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7181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>
                <a:solidFill>
                  <a:srgbClr val="7181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文档智能系统答辩报告</a:t>
            </a:r>
            <a:endParaRPr sz="825">
              <a:solidFill>
                <a:srgbClr val="7181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1201400" y="64865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66750" y="323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SYSTEM DESIGN</a:t>
            </a:r>
            <a:endParaRPr sz="97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66750" y="5810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系统总体架构</a:t>
            </a:r>
            <a:endParaRPr sz="24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020050" y="581025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前端交互、API服务、Agent编排、数据存储分层</a:t>
            </a:r>
            <a:endParaRPr sz="112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19150" y="1333500"/>
            <a:ext cx="7334250" cy="723900"/>
          </a:xfrm>
          <a:prstGeom prst="roundRect">
            <a:avLst>
              <a:gd name="adj" fmla="val 15789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19150" y="1333500"/>
            <a:ext cx="47625" cy="723900"/>
          </a:xfrm>
          <a:prstGeom prst="rect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047750" y="1457325"/>
            <a:ext cx="691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前端交互层</a:t>
            </a:r>
            <a:endParaRPr sz="15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047750" y="1733550"/>
            <a:ext cx="691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Vue3 SPA、模块路由、Pinia状态、Axios请求、WebSocket/轮询反馈</a:t>
            </a:r>
            <a:endParaRPr sz="112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476750" y="2076450"/>
            <a:ext cx="28575" cy="95250"/>
          </a:xfrm>
          <a:prstGeom prst="rect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41" name="圆角矩形 40"/>
          <p:cNvSpPr>
            <a:spLocks noGrp="1"/>
          </p:cNvSpPr>
          <p:nvPr/>
        </p:nvSpPr>
        <p:spPr>
          <a:xfrm>
            <a:off x="819150" y="2171700"/>
            <a:ext cx="7334250" cy="723900"/>
          </a:xfrm>
          <a:prstGeom prst="roundRect">
            <a:avLst>
              <a:gd name="adj" fmla="val 15789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19150" y="2171700"/>
            <a:ext cx="47625" cy="7239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047750" y="2295525"/>
            <a:ext cx="691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API服务层</a:t>
            </a:r>
            <a:endParaRPr sz="15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047750" y="2571750"/>
            <a:ext cx="691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FastAPI路由：认证、文档库、会话消息、文件、工作流执行</a:t>
            </a:r>
            <a:endParaRPr sz="112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4476750" y="2914650"/>
            <a:ext cx="28575" cy="952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6" name="圆角矩形 45"/>
          <p:cNvSpPr>
            <a:spLocks noGrp="1"/>
          </p:cNvSpPr>
          <p:nvPr/>
        </p:nvSpPr>
        <p:spPr>
          <a:xfrm>
            <a:off x="819150" y="3009900"/>
            <a:ext cx="7334250" cy="723900"/>
          </a:xfrm>
          <a:prstGeom prst="roundRect">
            <a:avLst>
              <a:gd name="adj" fmla="val 15789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19150" y="3009900"/>
            <a:ext cx="47625" cy="723900"/>
          </a:xfrm>
          <a:prstGeom prst="rect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047750" y="3133725"/>
            <a:ext cx="691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服务与Agent层</a:t>
            </a:r>
            <a:endParaRPr sz="15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047750" y="3409950"/>
            <a:ext cx="691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AgentService、IntentRouter、DocumentService、文档编辑/理解Agent</a:t>
            </a:r>
            <a:endParaRPr sz="112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4476750" y="3752850"/>
            <a:ext cx="28575" cy="95250"/>
          </a:xfrm>
          <a:prstGeom prst="rect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51" name="圆角矩形 50"/>
          <p:cNvSpPr>
            <a:spLocks noGrp="1"/>
          </p:cNvSpPr>
          <p:nvPr/>
        </p:nvSpPr>
        <p:spPr>
          <a:xfrm>
            <a:off x="819150" y="3848100"/>
            <a:ext cx="7334250" cy="723900"/>
          </a:xfrm>
          <a:prstGeom prst="roundRect">
            <a:avLst>
              <a:gd name="adj" fmla="val 15789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819150" y="3848100"/>
            <a:ext cx="47625" cy="72390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1047750" y="3971925"/>
            <a:ext cx="691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编排执行层</a:t>
            </a:r>
            <a:endParaRPr sz="15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1047750" y="4248150"/>
            <a:ext cx="691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WorkflowCoordinator、TaskExecutor、图结构执行、节点处理器、进度回调</a:t>
            </a:r>
            <a:endParaRPr sz="112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4476750" y="4591050"/>
            <a:ext cx="28575" cy="9525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56" name="圆角矩形 55"/>
          <p:cNvSpPr>
            <a:spLocks noGrp="1"/>
          </p:cNvSpPr>
          <p:nvPr/>
        </p:nvSpPr>
        <p:spPr>
          <a:xfrm>
            <a:off x="819150" y="4686300"/>
            <a:ext cx="7334250" cy="723900"/>
          </a:xfrm>
          <a:prstGeom prst="roundRect">
            <a:avLst>
              <a:gd name="adj" fmla="val 15789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819150" y="4686300"/>
            <a:ext cx="47625" cy="7239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1047750" y="4810125"/>
            <a:ext cx="691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数据与能力层</a:t>
            </a:r>
            <a:endParaRPr sz="15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1047750" y="5086350"/>
            <a:ext cx="691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PostgreSQL、对象存储/本地工作区、LLM兼容接口、文档解析库</a:t>
            </a:r>
            <a:endParaRPr sz="112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圆角矩形 59"/>
          <p:cNvSpPr>
            <a:spLocks noGrp="1"/>
          </p:cNvSpPr>
          <p:nvPr/>
        </p:nvSpPr>
        <p:spPr>
          <a:xfrm>
            <a:off x="8763000" y="1524000"/>
            <a:ext cx="2476500" cy="3619500"/>
          </a:xfrm>
          <a:prstGeom prst="roundRect">
            <a:avLst>
              <a:gd name="adj" fmla="val 4615"/>
            </a:avLst>
          </a:prstGeom>
          <a:solidFill>
            <a:srgbClr val="0D1B33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8991600" y="18097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请求流转</a:t>
            </a:r>
            <a:endParaRPr sz="18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椭圆 61"/>
          <p:cNvSpPr>
            <a:spLocks noGrp="1"/>
          </p:cNvSpPr>
          <p:nvPr/>
        </p:nvSpPr>
        <p:spPr>
          <a:xfrm>
            <a:off x="9048750" y="2381250"/>
            <a:ext cx="85725" cy="85725"/>
          </a:xfrm>
          <a:prstGeom prst="ellipse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9239250" y="23050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用户在前端选择文档或配置流程</a:t>
            </a:r>
            <a:endParaRPr sz="1350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椭圆 63"/>
          <p:cNvSpPr>
            <a:spLocks noGrp="1"/>
          </p:cNvSpPr>
          <p:nvPr/>
        </p:nvSpPr>
        <p:spPr>
          <a:xfrm>
            <a:off x="9048750" y="3009900"/>
            <a:ext cx="85725" cy="85725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9239250" y="29337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API组装任务并持久化状态</a:t>
            </a:r>
            <a:endParaRPr sz="1350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椭圆 65"/>
          <p:cNvSpPr>
            <a:spLocks noGrp="1"/>
          </p:cNvSpPr>
          <p:nvPr/>
        </p:nvSpPr>
        <p:spPr>
          <a:xfrm>
            <a:off x="9048750" y="3638550"/>
            <a:ext cx="85725" cy="85725"/>
          </a:xfrm>
          <a:prstGeom prst="ellipse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9239250" y="35623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Agent/节点执行文档处理</a:t>
            </a:r>
            <a:endParaRPr sz="1350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椭圆 67"/>
          <p:cNvSpPr>
            <a:spLocks noGrp="1"/>
          </p:cNvSpPr>
          <p:nvPr/>
        </p:nvSpPr>
        <p:spPr>
          <a:xfrm>
            <a:off x="9048750" y="4267200"/>
            <a:ext cx="85725" cy="85725"/>
          </a:xfrm>
          <a:prstGeom prst="ellipse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9239250" y="41910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结果文件回写会话或文档库</a:t>
            </a:r>
            <a:endParaRPr sz="1350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9525">
            <a:solidFill>
              <a:srgbClr val="07111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B2142"/>
          </a:solidFill>
          <a:ln w="9525">
            <a:solidFill>
              <a:srgbClr val="0B214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990600"/>
            <a:ext cx="12192000" cy="19050"/>
          </a:xfrm>
          <a:prstGeom prst="rect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6343650"/>
            <a:ext cx="12192000" cy="514350"/>
          </a:xfrm>
          <a:prstGeom prst="rect">
            <a:avLst/>
          </a:prstGeom>
          <a:solidFill>
            <a:srgbClr val="06101F"/>
          </a:solidFill>
          <a:ln w="9525">
            <a:solidFill>
              <a:srgbClr val="06101F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266700" y="3200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762000" y="2095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1257300" y="5562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752600" y="4457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2247900" y="3352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743200" y="22479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3238500" y="57150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3733800" y="46101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4229100" y="35052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4724400" y="24003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5219700" y="5867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5715000" y="4762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6210300" y="3657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6705600" y="2552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7200900" y="1447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7696200" y="49149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8191500" y="38100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8686800" y="27051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9182100" y="16002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9677400" y="50673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10172700" y="3962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10668000" y="2857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11163300" y="1752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11658600" y="5219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12153900" y="4114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66750" y="6524625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7181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>
                <a:solidFill>
                  <a:srgbClr val="7181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文档智能系统答辩报告</a:t>
            </a:r>
            <a:endParaRPr sz="825">
              <a:solidFill>
                <a:srgbClr val="7181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1201400" y="64865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7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66750" y="323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TECH STACK</a:t>
            </a:r>
            <a:endParaRPr sz="97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66750" y="5810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关键技术栈</a:t>
            </a:r>
            <a:endParaRPr sz="24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020050" y="581025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围绕文档处理、AI能力和工程化落地选型</a:t>
            </a:r>
            <a:endParaRPr sz="112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666750" y="1428750"/>
            <a:ext cx="3238500" cy="1428750"/>
          </a:xfrm>
          <a:prstGeom prst="roundRect">
            <a:avLst>
              <a:gd name="adj" fmla="val 8000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1428750"/>
            <a:ext cx="47625" cy="1428750"/>
          </a:xfrm>
          <a:prstGeom prst="rect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95350" y="1619250"/>
            <a:ext cx="2819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95350" y="1981200"/>
            <a:ext cx="2819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Vue3 / Vite / Pinia / Axios / Marked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4381500" y="1428750"/>
            <a:ext cx="3238500" cy="1428750"/>
          </a:xfrm>
          <a:prstGeom prst="roundRect">
            <a:avLst>
              <a:gd name="adj" fmla="val 8000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4381500" y="1428750"/>
            <a:ext cx="47625" cy="14287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4610100" y="1619250"/>
            <a:ext cx="2819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后端API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610100" y="1981200"/>
            <a:ext cx="2819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FastAPI / Uvicorn / Pydantic / python-multipart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8096250" y="1428750"/>
            <a:ext cx="3238500" cy="1428750"/>
          </a:xfrm>
          <a:prstGeom prst="roundRect">
            <a:avLst>
              <a:gd name="adj" fmla="val 8000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096250" y="1428750"/>
            <a:ext cx="47625" cy="1428750"/>
          </a:xfrm>
          <a:prstGeom prst="rect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324850" y="1619250"/>
            <a:ext cx="2819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AI与文档处理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324850" y="1981200"/>
            <a:ext cx="2819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OpenAI兼容接口 / LangChain OpenAI / PyMuPDF / python-docx / openpyxl / docling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666750" y="3381375"/>
            <a:ext cx="3238500" cy="1428750"/>
          </a:xfrm>
          <a:prstGeom prst="roundRect">
            <a:avLst>
              <a:gd name="adj" fmla="val 8000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666750" y="3381375"/>
            <a:ext cx="47625" cy="142875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895350" y="3571875"/>
            <a:ext cx="2819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数据与存储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95350" y="3933825"/>
            <a:ext cx="2819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PostgreSQL / psycopg / psycopg-pool / Azure Blob / Qiniu / 本地workspace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4381500" y="3381375"/>
            <a:ext cx="3238500" cy="1428750"/>
          </a:xfrm>
          <a:prstGeom prst="roundRect">
            <a:avLst>
              <a:gd name="adj" fmla="val 8000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4381500" y="3381375"/>
            <a:ext cx="47625" cy="142875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4610100" y="3571875"/>
            <a:ext cx="2819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质量与工具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4610100" y="3933825"/>
            <a:ext cx="2819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pytest / httpx / jsonschema / rapidfuzz / 日志与异常封装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857250" y="561975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选型特点：前后端职责清晰，文档解析与大模型能力解耦，数据库和对象存储同时支持本地开发与部署扩展。</a:t>
            </a:r>
            <a:endParaRPr sz="1500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9525">
            <a:solidFill>
              <a:srgbClr val="07111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B2142"/>
          </a:solidFill>
          <a:ln w="9525">
            <a:solidFill>
              <a:srgbClr val="0B214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990600"/>
            <a:ext cx="12192000" cy="19050"/>
          </a:xfrm>
          <a:prstGeom prst="rect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6343650"/>
            <a:ext cx="12192000" cy="514350"/>
          </a:xfrm>
          <a:prstGeom prst="rect">
            <a:avLst/>
          </a:prstGeom>
          <a:solidFill>
            <a:srgbClr val="06101F"/>
          </a:solidFill>
          <a:ln w="9525">
            <a:solidFill>
              <a:srgbClr val="06101F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266700" y="3200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762000" y="2095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1257300" y="5562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752600" y="4457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2247900" y="3352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743200" y="22479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3238500" y="57150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3733800" y="46101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4229100" y="35052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4724400" y="24003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5219700" y="5867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5715000" y="4762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6210300" y="3657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6705600" y="2552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7200900" y="1447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7696200" y="49149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8191500" y="38100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8686800" y="27051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9182100" y="16002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9677400" y="50673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10172700" y="3962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10668000" y="2857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11163300" y="1752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11658600" y="5219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12153900" y="4114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66750" y="6524625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7181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>
                <a:solidFill>
                  <a:srgbClr val="7181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文档智能系统答辩报告</a:t>
            </a:r>
            <a:endParaRPr sz="825">
              <a:solidFill>
                <a:srgbClr val="7181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1201400" y="64865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7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66750" y="323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MODULE 01</a:t>
            </a:r>
            <a:endParaRPr sz="97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66750" y="5810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文档库模块概述</a:t>
            </a:r>
            <a:endParaRPr sz="24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020050" y="581025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为系统提供统一的文档资产入口</a:t>
            </a:r>
            <a:endParaRPr sz="112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666750" y="1428750"/>
            <a:ext cx="3333750" cy="1352550"/>
          </a:xfrm>
          <a:prstGeom prst="roundRect">
            <a:avLst>
              <a:gd name="adj" fmla="val 8451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1428750"/>
            <a:ext cx="47625" cy="1352550"/>
          </a:xfrm>
          <a:prstGeom prst="rect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95350" y="16192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空间与文档管理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95350" y="1981200"/>
            <a:ext cx="2914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按文档库空间组织文件，支持上传、删除、列表检索和文件元数据展示。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4429125" y="1428750"/>
            <a:ext cx="3333750" cy="1352550"/>
          </a:xfrm>
          <a:prstGeom prst="roundRect">
            <a:avLst>
              <a:gd name="adj" fmla="val 8451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4429125" y="1428750"/>
            <a:ext cx="47625" cy="13525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4657725" y="16192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批量操作能力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657725" y="1981200"/>
            <a:ext cx="2914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支持多选、全选、批量下载，方便答辩演示和批处理准备。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8191500" y="1428750"/>
            <a:ext cx="3333750" cy="1352550"/>
          </a:xfrm>
          <a:prstGeom prst="roundRect">
            <a:avLst>
              <a:gd name="adj" fmla="val 8451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191500" y="1428750"/>
            <a:ext cx="47625" cy="135255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420100" y="16192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模块联动入口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420100" y="1981200"/>
            <a:ext cx="2914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文档库文件可被智能对话选择，也可作为工作流输入文件。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57250" y="33337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文档库联动路径</a:t>
            </a:r>
            <a:endParaRPr sz="18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952500" y="4143375"/>
            <a:ext cx="1428750" cy="609600"/>
          </a:xfrm>
          <a:prstGeom prst="roundRect">
            <a:avLst>
              <a:gd name="adj" fmla="val 18750"/>
            </a:avLst>
          </a:prstGeom>
          <a:solidFill>
            <a:srgbClr val="0D1B33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52500" y="43434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文档上传</a:t>
            </a:r>
            <a:endParaRPr sz="12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2419350" y="4448175"/>
            <a:ext cx="685800" cy="28575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2" name="圆角矩形 51"/>
          <p:cNvSpPr>
            <a:spLocks noGrp="1"/>
          </p:cNvSpPr>
          <p:nvPr/>
        </p:nvSpPr>
        <p:spPr>
          <a:xfrm>
            <a:off x="3143250" y="4143375"/>
            <a:ext cx="1428750" cy="609600"/>
          </a:xfrm>
          <a:prstGeom prst="roundRect">
            <a:avLst>
              <a:gd name="adj" fmla="val 18750"/>
            </a:avLst>
          </a:prstGeom>
          <a:solidFill>
            <a:srgbClr val="0D1B33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3143250" y="43434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文档库选择</a:t>
            </a:r>
            <a:endParaRPr sz="12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4610100" y="4448175"/>
            <a:ext cx="685800" cy="28575"/>
          </a:xfrm>
          <a:prstGeom prst="rect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55" name="圆角矩形 54"/>
          <p:cNvSpPr>
            <a:spLocks noGrp="1"/>
          </p:cNvSpPr>
          <p:nvPr/>
        </p:nvSpPr>
        <p:spPr>
          <a:xfrm>
            <a:off x="5334000" y="4143375"/>
            <a:ext cx="1428750" cy="609600"/>
          </a:xfrm>
          <a:prstGeom prst="roundRect">
            <a:avLst>
              <a:gd name="adj" fmla="val 18750"/>
            </a:avLst>
          </a:prstGeom>
          <a:solidFill>
            <a:srgbClr val="0D1B33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5334000" y="43434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智能对话附件</a:t>
            </a:r>
            <a:endParaRPr sz="12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6800850" y="4448175"/>
            <a:ext cx="685800" cy="28575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58" name="圆角矩形 57"/>
          <p:cNvSpPr>
            <a:spLocks noGrp="1"/>
          </p:cNvSpPr>
          <p:nvPr/>
        </p:nvSpPr>
        <p:spPr>
          <a:xfrm>
            <a:off x="7524750" y="4143375"/>
            <a:ext cx="1428750" cy="609600"/>
          </a:xfrm>
          <a:prstGeom prst="roundRect">
            <a:avLst>
              <a:gd name="adj" fmla="val 18750"/>
            </a:avLst>
          </a:prstGeom>
          <a:solidFill>
            <a:srgbClr val="0D1B33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7524750" y="43434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工作流输入</a:t>
            </a:r>
            <a:endParaRPr sz="12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991600" y="4448175"/>
            <a:ext cx="685800" cy="28575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1" name="圆角矩形 60"/>
          <p:cNvSpPr>
            <a:spLocks noGrp="1"/>
          </p:cNvSpPr>
          <p:nvPr/>
        </p:nvSpPr>
        <p:spPr>
          <a:xfrm>
            <a:off x="9715500" y="4143375"/>
            <a:ext cx="1428750" cy="609600"/>
          </a:xfrm>
          <a:prstGeom prst="roundRect">
            <a:avLst>
              <a:gd name="adj" fmla="val 18750"/>
            </a:avLst>
          </a:prstGeom>
          <a:solidFill>
            <a:srgbClr val="0D1B33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9715500" y="43434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结果下载</a:t>
            </a:r>
            <a:endParaRPr sz="12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1428750" y="552450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文档库不只是文件列表，而是后续问答、编辑和流程化处理的数据来源。</a:t>
            </a:r>
            <a:endParaRPr sz="1500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9525">
            <a:solidFill>
              <a:srgbClr val="07111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B2142"/>
          </a:solidFill>
          <a:ln w="9525">
            <a:solidFill>
              <a:srgbClr val="0B214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990600"/>
            <a:ext cx="12192000" cy="19050"/>
          </a:xfrm>
          <a:prstGeom prst="rect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6343650"/>
            <a:ext cx="12192000" cy="514350"/>
          </a:xfrm>
          <a:prstGeom prst="rect">
            <a:avLst/>
          </a:prstGeom>
          <a:solidFill>
            <a:srgbClr val="06101F"/>
          </a:solidFill>
          <a:ln w="9525">
            <a:solidFill>
              <a:srgbClr val="06101F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266700" y="3200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762000" y="2095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1257300" y="5562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752600" y="4457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2247900" y="3352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743200" y="22479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3238500" y="57150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3733800" y="46101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4229100" y="35052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4724400" y="24003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5219700" y="5867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5715000" y="4762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6210300" y="3657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6705600" y="2552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7200900" y="1447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7696200" y="49149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8191500" y="38100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8686800" y="27051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9182100" y="16002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9677400" y="50673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10172700" y="3962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10668000" y="2857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11163300" y="1752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11658600" y="5219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12153900" y="4114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66750" y="6524625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7181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>
                <a:solidFill>
                  <a:srgbClr val="7181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文档智能系统答辩报告</a:t>
            </a:r>
            <a:endParaRPr sz="825">
              <a:solidFill>
                <a:srgbClr val="7181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1201400" y="64865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7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66750" y="323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MODULE 02</a:t>
            </a:r>
            <a:endParaRPr sz="97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66750" y="5810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智能对话模块概述</a:t>
            </a:r>
            <a:endParaRPr sz="24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020050" y="581025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围绕会话、附件和意图路由组织AI能力</a:t>
            </a:r>
            <a:endParaRPr sz="112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666750" y="1381125"/>
            <a:ext cx="3333750" cy="1295400"/>
          </a:xfrm>
          <a:prstGeom prst="roundRect">
            <a:avLst>
              <a:gd name="adj" fmla="val 8824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1381125"/>
            <a:ext cx="47625" cy="12954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95350" y="1571625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默认对话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95350" y="1933575"/>
            <a:ext cx="29146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保留多轮上下文，面向普通问答；当包含文档编辑意图时由意图路由转入专用处理。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4429125" y="1381125"/>
            <a:ext cx="3333750" cy="1295400"/>
          </a:xfrm>
          <a:prstGeom prst="roundRect">
            <a:avLst>
              <a:gd name="adj" fmla="val 8824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4429125" y="1381125"/>
            <a:ext cx="47625" cy="1295400"/>
          </a:xfrm>
          <a:prstGeom prst="rect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4657725" y="1571625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文档理解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657725" y="1933575"/>
            <a:ext cx="29146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选择本地或文档库文件后进行摘要、分析、解释和多轮追问。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8191500" y="1381125"/>
            <a:ext cx="3333750" cy="1295400"/>
          </a:xfrm>
          <a:prstGeom prst="roundRect">
            <a:avLst>
              <a:gd name="adj" fmla="val 8824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191500" y="1381125"/>
            <a:ext cx="47625" cy="1295400"/>
          </a:xfrm>
          <a:prstGeom prst="rect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420100" y="1571625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文档编辑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420100" y="1933575"/>
            <a:ext cx="29146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理解用户修改需求，对DOCX/MD/TXT/XLSX等文档生成用户可下载结果。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1143000" y="3286125"/>
            <a:ext cx="9906000" cy="1809750"/>
          </a:xfrm>
          <a:prstGeom prst="roundRect">
            <a:avLst>
              <a:gd name="adj" fmla="val 6316"/>
            </a:avLst>
          </a:prstGeom>
          <a:solidFill>
            <a:srgbClr val="0D1B33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9" name="圆角矩形 48"/>
          <p:cNvSpPr>
            <a:spLocks noGrp="1"/>
          </p:cNvSpPr>
          <p:nvPr/>
        </p:nvSpPr>
        <p:spPr>
          <a:xfrm>
            <a:off x="1245870" y="3867150"/>
            <a:ext cx="1333500" cy="552450"/>
          </a:xfrm>
          <a:prstGeom prst="roundRect">
            <a:avLst>
              <a:gd name="adj" fmla="val 13793"/>
            </a:avLst>
          </a:prstGeom>
          <a:solidFill>
            <a:srgbClr val="13213A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245870" y="40481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会话与附件</a:t>
            </a:r>
            <a:endParaRPr sz="12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2617470" y="4143375"/>
            <a:ext cx="685800" cy="28575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2" name="圆角矩形 51"/>
          <p:cNvSpPr>
            <a:spLocks noGrp="1"/>
          </p:cNvSpPr>
          <p:nvPr/>
        </p:nvSpPr>
        <p:spPr>
          <a:xfrm>
            <a:off x="3341370" y="3867150"/>
            <a:ext cx="1333500" cy="552450"/>
          </a:xfrm>
          <a:prstGeom prst="roundRect">
            <a:avLst>
              <a:gd name="adj" fmla="val 13793"/>
            </a:avLst>
          </a:prstGeom>
          <a:solidFill>
            <a:srgbClr val="13213A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3341370" y="40481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IntentRouter</a:t>
            </a:r>
            <a:endParaRPr sz="12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4712970" y="4143375"/>
            <a:ext cx="685800" cy="28575"/>
          </a:xfrm>
          <a:prstGeom prst="rect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55" name="圆角矩形 54"/>
          <p:cNvSpPr>
            <a:spLocks noGrp="1"/>
          </p:cNvSpPr>
          <p:nvPr/>
        </p:nvSpPr>
        <p:spPr>
          <a:xfrm>
            <a:off x="5436870" y="3867150"/>
            <a:ext cx="1333500" cy="552450"/>
          </a:xfrm>
          <a:prstGeom prst="roundRect">
            <a:avLst>
              <a:gd name="adj" fmla="val 13793"/>
            </a:avLst>
          </a:prstGeom>
          <a:solidFill>
            <a:srgbClr val="13213A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5436870" y="40481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AgentService</a:t>
            </a:r>
            <a:endParaRPr sz="12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6808470" y="4143375"/>
            <a:ext cx="685800" cy="28575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58" name="圆角矩形 57"/>
          <p:cNvSpPr>
            <a:spLocks noGrp="1"/>
          </p:cNvSpPr>
          <p:nvPr/>
        </p:nvSpPr>
        <p:spPr>
          <a:xfrm>
            <a:off x="7532370" y="3867150"/>
            <a:ext cx="1333500" cy="552450"/>
          </a:xfrm>
          <a:prstGeom prst="roundRect">
            <a:avLst>
              <a:gd name="adj" fmla="val 13793"/>
            </a:avLst>
          </a:prstGeom>
          <a:solidFill>
            <a:srgbClr val="13213A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7532370" y="40481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文档Agent</a:t>
            </a:r>
            <a:endParaRPr sz="12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903970" y="4143375"/>
            <a:ext cx="590550" cy="28575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1" name="圆角矩形 60"/>
          <p:cNvSpPr>
            <a:spLocks noGrp="1"/>
          </p:cNvSpPr>
          <p:nvPr/>
        </p:nvSpPr>
        <p:spPr>
          <a:xfrm>
            <a:off x="9532620" y="3867150"/>
            <a:ext cx="1333500" cy="552450"/>
          </a:xfrm>
          <a:prstGeom prst="roundRect">
            <a:avLst>
              <a:gd name="adj" fmla="val 13793"/>
            </a:avLst>
          </a:prstGeom>
          <a:solidFill>
            <a:srgbClr val="13213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9532620" y="40481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下载结果</a:t>
            </a:r>
            <a:endParaRPr sz="12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1428750" y="554355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前端展示面向用户的结果文案，隐藏内部Agent名称；生成文件进入会话文件体系，可继续下载或复用。</a:t>
            </a:r>
            <a:endParaRPr sz="1500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9525">
            <a:solidFill>
              <a:srgbClr val="07111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B2142"/>
          </a:solidFill>
          <a:ln w="9525">
            <a:solidFill>
              <a:srgbClr val="0B214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990600"/>
            <a:ext cx="12192000" cy="19050"/>
          </a:xfrm>
          <a:prstGeom prst="rect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6343650"/>
            <a:ext cx="12192000" cy="514350"/>
          </a:xfrm>
          <a:prstGeom prst="rect">
            <a:avLst/>
          </a:prstGeom>
          <a:solidFill>
            <a:srgbClr val="06101F"/>
          </a:solidFill>
          <a:ln w="9525">
            <a:solidFill>
              <a:srgbClr val="06101F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266700" y="3200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762000" y="2095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1257300" y="5562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752600" y="4457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2247900" y="3352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743200" y="22479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3238500" y="57150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3733800" y="46101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4229100" y="35052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4724400" y="24003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5219700" y="5867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5715000" y="4762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6210300" y="3657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6705600" y="2552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7200900" y="1447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7696200" y="49149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8191500" y="38100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8686800" y="27051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9182100" y="16002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9677400" y="50673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10172700" y="3962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10668000" y="2857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11163300" y="1752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11658600" y="5219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12153900" y="4114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66750" y="6524625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7181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>
                <a:solidFill>
                  <a:srgbClr val="7181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文档智能系统答辩报告</a:t>
            </a:r>
            <a:endParaRPr sz="825">
              <a:solidFill>
                <a:srgbClr val="7181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1201400" y="64865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97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66750" y="323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MODULE 03</a:t>
            </a:r>
            <a:endParaRPr sz="97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66750" y="5810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工作流编排模块概述</a:t>
            </a:r>
            <a:endParaRPr sz="24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020050" y="581025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把文档处理能力变成可配置、可执行、可追踪的流程</a:t>
            </a:r>
            <a:endParaRPr sz="112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666750" y="1381125"/>
            <a:ext cx="3333750" cy="1295400"/>
          </a:xfrm>
          <a:prstGeom prst="roundRect">
            <a:avLst>
              <a:gd name="adj" fmla="val 8824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1381125"/>
            <a:ext cx="47625" cy="1295400"/>
          </a:xfrm>
          <a:prstGeom prst="rect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95350" y="1571625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可视化画布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95350" y="1933575"/>
            <a:ext cx="29146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拖拽节点、配置参数、连接节点，支持复杂图结构而不是固定线性流程。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4429125" y="1381125"/>
            <a:ext cx="3333750" cy="1295400"/>
          </a:xfrm>
          <a:prstGeom prst="roundRect">
            <a:avLst>
              <a:gd name="adj" fmla="val 8824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4429125" y="1381125"/>
            <a:ext cx="47625" cy="12954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4657725" y="1571625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异步执行状态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657725" y="1933575"/>
            <a:ext cx="29146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启动后返回execution_id，前端轮询执行状态，展示整体和节点进度。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8191500" y="1381125"/>
            <a:ext cx="3333750" cy="1295400"/>
          </a:xfrm>
          <a:prstGeom prst="roundRect">
            <a:avLst>
              <a:gd name="adj" fmla="val 8824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191500" y="1381125"/>
            <a:ext cx="47625" cy="129540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420100" y="1571625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批处理与并发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420100" y="1933575"/>
            <a:ext cx="29146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支持多文件批处理、并发数量配置、长文档分块并发处理。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1143000" y="3143250"/>
            <a:ext cx="9906000" cy="2095500"/>
          </a:xfrm>
          <a:prstGeom prst="roundRect">
            <a:avLst>
              <a:gd name="adj" fmla="val 5455"/>
            </a:avLst>
          </a:prstGeom>
          <a:solidFill>
            <a:srgbClr val="0D1B33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9" name="圆角矩形 48"/>
          <p:cNvSpPr>
            <a:spLocks noGrp="1"/>
          </p:cNvSpPr>
          <p:nvPr/>
        </p:nvSpPr>
        <p:spPr>
          <a:xfrm>
            <a:off x="1219200" y="3590925"/>
            <a:ext cx="1181100" cy="533400"/>
          </a:xfrm>
          <a:prstGeom prst="roundRect">
            <a:avLst>
              <a:gd name="adj" fmla="val 14286"/>
            </a:avLst>
          </a:prstGeom>
          <a:solidFill>
            <a:srgbClr val="13213A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219200" y="376237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sz="12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3171825" y="3590925"/>
            <a:ext cx="1181100" cy="533400"/>
          </a:xfrm>
          <a:prstGeom prst="roundRect">
            <a:avLst>
              <a:gd name="adj" fmla="val 14286"/>
            </a:avLst>
          </a:prstGeom>
          <a:solidFill>
            <a:srgbClr val="13213A"/>
          </a:solidFill>
          <a:ln w="9525">
            <a:solidFill>
              <a:srgbClr val="2563EB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171825" y="376237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预处理</a:t>
            </a:r>
            <a:endParaRPr sz="12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5124450" y="3590925"/>
            <a:ext cx="1181100" cy="533400"/>
          </a:xfrm>
          <a:prstGeom prst="roundRect">
            <a:avLst>
              <a:gd name="adj" fmla="val 14286"/>
            </a:avLst>
          </a:prstGeom>
          <a:solidFill>
            <a:srgbClr val="13213A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5124450" y="376237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AI处理</a:t>
            </a:r>
            <a:endParaRPr sz="12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7077075" y="3590925"/>
            <a:ext cx="1181100" cy="533400"/>
          </a:xfrm>
          <a:prstGeom prst="roundRect">
            <a:avLst>
              <a:gd name="adj" fmla="val 14286"/>
            </a:avLst>
          </a:prstGeom>
          <a:solidFill>
            <a:srgbClr val="13213A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7077075" y="376237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数据处理</a:t>
            </a:r>
            <a:endParaRPr sz="12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圆角矩形 56"/>
          <p:cNvSpPr>
            <a:spLocks noGrp="1"/>
          </p:cNvSpPr>
          <p:nvPr/>
        </p:nvSpPr>
        <p:spPr>
          <a:xfrm>
            <a:off x="9029700" y="3590925"/>
            <a:ext cx="1181100" cy="533400"/>
          </a:xfrm>
          <a:prstGeom prst="roundRect">
            <a:avLst>
              <a:gd name="adj" fmla="val 14286"/>
            </a:avLst>
          </a:prstGeom>
          <a:solidFill>
            <a:srgbClr val="13213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9029700" y="376237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endParaRPr sz="12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4352925" y="3860800"/>
            <a:ext cx="771525" cy="28575"/>
          </a:xfrm>
          <a:prstGeom prst="rect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2400300" y="3857625"/>
            <a:ext cx="771525" cy="28575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6305550" y="3857625"/>
            <a:ext cx="771525" cy="28575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8258175" y="3832225"/>
            <a:ext cx="771525" cy="28575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1476375" y="5619750"/>
            <a:ext cx="923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执行时按图结构拓扑顺序推进；节点失败会立即中断并在前端显示失败节点与错误信息。</a:t>
            </a:r>
            <a:endParaRPr sz="1500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9525">
            <a:solidFill>
              <a:srgbClr val="07111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B2142"/>
          </a:solidFill>
          <a:ln w="9525">
            <a:solidFill>
              <a:srgbClr val="0B214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990600"/>
            <a:ext cx="12192000" cy="19050"/>
          </a:xfrm>
          <a:prstGeom prst="rect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6343650"/>
            <a:ext cx="12192000" cy="514350"/>
          </a:xfrm>
          <a:prstGeom prst="rect">
            <a:avLst/>
          </a:prstGeom>
          <a:solidFill>
            <a:srgbClr val="06101F"/>
          </a:solidFill>
          <a:ln w="9525">
            <a:solidFill>
              <a:srgbClr val="06101F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266700" y="3200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762000" y="2095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1257300" y="5562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752600" y="4457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2247900" y="3352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743200" y="22479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3238500" y="57150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3733800" y="46101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4229100" y="35052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4724400" y="24003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5219700" y="5867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5715000" y="4762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6210300" y="3657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6705600" y="2552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7200900" y="1447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7696200" y="49149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8191500" y="38100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8686800" y="27051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9182100" y="16002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9677400" y="50673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10172700" y="3962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10668000" y="2857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11163300" y="1752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11658600" y="5219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12153900" y="4114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66750" y="6524625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7181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>
                <a:solidFill>
                  <a:srgbClr val="7181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文档智能系统答辩报告</a:t>
            </a:r>
            <a:endParaRPr sz="825">
              <a:solidFill>
                <a:srgbClr val="7181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1201400" y="64865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7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66750" y="323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 SYSTEM</a:t>
            </a:r>
            <a:endParaRPr sz="97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66750" y="5810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节点体系与处理能力</a:t>
            </a:r>
            <a:endParaRPr sz="24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020050" y="581025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通过schemaKey和configValues驱动节点行为</a:t>
            </a:r>
            <a:endParaRPr sz="112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1000125" y="1333500"/>
            <a:ext cx="10191750" cy="685800"/>
          </a:xfrm>
          <a:prstGeom prst="roundRect">
            <a:avLst>
              <a:gd name="adj" fmla="val 16667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000125" y="1333500"/>
            <a:ext cx="47625" cy="685800"/>
          </a:xfrm>
          <a:prstGeom prst="rect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228725" y="1457325"/>
            <a:ext cx="977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输入节点</a:t>
            </a:r>
            <a:endParaRPr sz="15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228725" y="1733550"/>
            <a:ext cx="9772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PDF、DOCX、TXT、MD、XLSX等文件输入，支持本地上传和文档库选择互斥。</a:t>
            </a:r>
            <a:endParaRPr sz="112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1000125" y="2152650"/>
            <a:ext cx="10191750" cy="685800"/>
          </a:xfrm>
          <a:prstGeom prst="roundRect">
            <a:avLst>
              <a:gd name="adj" fmla="val 16667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000125" y="2152650"/>
            <a:ext cx="47625" cy="685800"/>
          </a:xfrm>
          <a:prstGeom prst="rect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228725" y="2276475"/>
            <a:ext cx="977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AI处理节点</a:t>
            </a:r>
            <a:endParaRPr sz="15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228725" y="2552700"/>
            <a:ext cx="9772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翻译、内容提取、数据抽取、内容分析、文本增强、结构化提纲生成等。</a:t>
            </a:r>
            <a:endParaRPr sz="112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1000125" y="2971800"/>
            <a:ext cx="10191750" cy="685800"/>
          </a:xfrm>
          <a:prstGeom prst="roundRect">
            <a:avLst>
              <a:gd name="adj" fmla="val 16667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00125" y="2971800"/>
            <a:ext cx="47625" cy="6858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228725" y="3095625"/>
            <a:ext cx="977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数据处理节点</a:t>
            </a:r>
            <a:endParaRPr sz="15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228725" y="3371850"/>
            <a:ext cx="9772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实体提取、表格提取、数据处理、数据清洗、数据汇总、时间线抽取。</a:t>
            </a:r>
            <a:endParaRPr sz="112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1000125" y="3790950"/>
            <a:ext cx="10191750" cy="685800"/>
          </a:xfrm>
          <a:prstGeom prst="roundRect">
            <a:avLst>
              <a:gd name="adj" fmla="val 16667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1000125" y="3790950"/>
            <a:ext cx="47625" cy="68580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228725" y="3914775"/>
            <a:ext cx="977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合规与增强节点</a:t>
            </a:r>
            <a:endParaRPr sz="15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228725" y="4191000"/>
            <a:ext cx="9772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关键词高亮、敏感信息脱敏、术语统一替换、格式转换、文档分割。</a:t>
            </a:r>
            <a:endParaRPr sz="112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1000125" y="4610100"/>
            <a:ext cx="10191750" cy="685800"/>
          </a:xfrm>
          <a:prstGeom prst="roundRect">
            <a:avLst>
              <a:gd name="adj" fmla="val 16667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1000125" y="4610100"/>
            <a:ext cx="47625" cy="6858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228725" y="4733925"/>
            <a:ext cx="977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输出节点</a:t>
            </a:r>
            <a:endParaRPr sz="15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228725" y="5010150"/>
            <a:ext cx="9772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保存文件、输出文件、保存Excel、保存文本，输出命名统一为原文件名_out.ext。</a:t>
            </a:r>
            <a:endParaRPr sz="112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1238250" y="561975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配置校验会在执行前检查节点、连线、输入来源和必要参数，避免流程进入不可执行状态。</a:t>
            </a:r>
            <a:endParaRPr sz="1500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9525">
            <a:solidFill>
              <a:srgbClr val="07111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B2142"/>
          </a:solidFill>
          <a:ln w="9525">
            <a:solidFill>
              <a:srgbClr val="0B214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990600"/>
            <a:ext cx="12192000" cy="19050"/>
          </a:xfrm>
          <a:prstGeom prst="rect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6343650"/>
            <a:ext cx="12192000" cy="514350"/>
          </a:xfrm>
          <a:prstGeom prst="rect">
            <a:avLst/>
          </a:prstGeom>
          <a:solidFill>
            <a:srgbClr val="06101F"/>
          </a:solidFill>
          <a:ln w="9525">
            <a:solidFill>
              <a:srgbClr val="06101F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266700" y="3200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762000" y="2095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1257300" y="5562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752600" y="4457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2247900" y="3352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743200" y="22479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3238500" y="57150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3733800" y="46101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4229100" y="35052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4724400" y="24003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5219700" y="5867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5715000" y="4762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6210300" y="3657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6705600" y="2552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7200900" y="1447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7696200" y="49149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8191500" y="38100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8686800" y="27051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9182100" y="16002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9677400" y="50673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10172700" y="3962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10668000" y="2857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11163300" y="1752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11658600" y="5219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12153900" y="4114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66750" y="6524625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7181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>
                <a:solidFill>
                  <a:srgbClr val="7181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文档智能系统答辩报告</a:t>
            </a:r>
            <a:endParaRPr sz="825">
              <a:solidFill>
                <a:srgbClr val="7181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1201400" y="64865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7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66750" y="323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 DESIGN</a:t>
            </a:r>
            <a:endParaRPr sz="97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66750" y="5810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数据与安全设计</a:t>
            </a:r>
            <a:endParaRPr sz="24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020050" y="581025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围绕用户、文件、会话和工作流进行持久化</a:t>
            </a:r>
            <a:endParaRPr sz="112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666750" y="1428750"/>
            <a:ext cx="3333750" cy="1352550"/>
          </a:xfrm>
          <a:prstGeom prst="roundRect">
            <a:avLst>
              <a:gd name="adj" fmla="val 8451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1428750"/>
            <a:ext cx="47625" cy="13525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95350" y="16192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PostgreSQL持久化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95350" y="1981200"/>
            <a:ext cx="2914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保存用户、会话、消息、文件、文档库空间、工作流与执行状态。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4429125" y="1428750"/>
            <a:ext cx="3333750" cy="1352550"/>
          </a:xfrm>
          <a:prstGeom prst="roundRect">
            <a:avLst>
              <a:gd name="adj" fmla="val 8451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4429125" y="1428750"/>
            <a:ext cx="47625" cy="1352550"/>
          </a:xfrm>
          <a:prstGeom prst="rect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4657725" y="16192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对象存储与本地目录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657725" y="1981200"/>
            <a:ext cx="2914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适配Azure Blob/Qiniu，也支持本地workspace，便于开发和部署切换。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8191500" y="1428750"/>
            <a:ext cx="3333750" cy="1352550"/>
          </a:xfrm>
          <a:prstGeom prst="roundRect">
            <a:avLst>
              <a:gd name="adj" fmla="val 8451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191500" y="1428750"/>
            <a:ext cx="47625" cy="135255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420100" y="16192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用户范围隔离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420100" y="1981200"/>
            <a:ext cx="2914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API按用户维度读取文档库、会话文件和工作流，避免跨用户访问。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1600200" y="3476625"/>
            <a:ext cx="4000500" cy="1238250"/>
          </a:xfrm>
          <a:prstGeom prst="roundRect">
            <a:avLst>
              <a:gd name="adj" fmla="val 9231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1600200" y="3476625"/>
            <a:ext cx="47625" cy="123825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828800" y="3667125"/>
            <a:ext cx="3581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输出文件规则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828800" y="4029075"/>
            <a:ext cx="3581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用户可见的生成文件保持“输入完整文件名_out.扩展名”，降低查找和演示成本。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6591300" y="3476625"/>
            <a:ext cx="4000500" cy="1238250"/>
          </a:xfrm>
          <a:prstGeom prst="roundRect">
            <a:avLst>
              <a:gd name="adj" fmla="val 9231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591300" y="3476625"/>
            <a:ext cx="47625" cy="1238250"/>
          </a:xfrm>
          <a:prstGeom prst="rect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6819900" y="3667125"/>
            <a:ext cx="3581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状态可追踪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6819900" y="4029075"/>
            <a:ext cx="3581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工作流执行状态包含进度、节点状态、输出文件、错误信息，支撑前端实时展示。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1238250" y="561975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数据层设计保证三大模块能够共享文档资产，同时保留各自的业务状态和输出记录。</a:t>
            </a:r>
            <a:endParaRPr sz="1500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9525">
            <a:solidFill>
              <a:srgbClr val="07111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B2142"/>
          </a:solidFill>
          <a:ln w="9525">
            <a:solidFill>
              <a:srgbClr val="0B214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990600"/>
            <a:ext cx="12192000" cy="19050"/>
          </a:xfrm>
          <a:prstGeom prst="rect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6343650"/>
            <a:ext cx="12192000" cy="514350"/>
          </a:xfrm>
          <a:prstGeom prst="rect">
            <a:avLst/>
          </a:prstGeom>
          <a:solidFill>
            <a:srgbClr val="06101F"/>
          </a:solidFill>
          <a:ln w="9525">
            <a:solidFill>
              <a:srgbClr val="06101F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266700" y="3200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762000" y="2095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1257300" y="5562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752600" y="4457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2247900" y="3352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743200" y="22479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3238500" y="57150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3733800" y="46101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4229100" y="35052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4724400" y="24003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5219700" y="5867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5715000" y="4762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6210300" y="3657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6705600" y="2552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7200900" y="1447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7696200" y="49149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8191500" y="38100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8686800" y="27051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9182100" y="16002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9677400" y="50673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10172700" y="39624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10668000" y="28575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11163300" y="17526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11658600" y="52197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12153900" y="4114800"/>
            <a:ext cx="28575" cy="28575"/>
          </a:xfrm>
          <a:prstGeom prst="ellipse">
            <a:avLst/>
          </a:prstGeom>
          <a:solidFill>
            <a:srgbClr val="14345B"/>
          </a:solidFill>
          <a:ln w="9525">
            <a:solidFill>
              <a:srgbClr val="14345B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66750" y="6524625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7181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>
                <a:solidFill>
                  <a:srgbClr val="7181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文档智能系统答辩报告</a:t>
            </a:r>
            <a:endParaRPr sz="825">
              <a:solidFill>
                <a:srgbClr val="7181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1201400" y="648652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7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66750" y="3238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SUMMARY</a:t>
            </a:r>
            <a:endParaRPr sz="975" b="1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66750" y="5810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完成度与后续方向</a:t>
            </a:r>
            <a:endParaRPr sz="24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020050" y="581025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系统已形成可演示、可扩展的完整闭环</a:t>
            </a:r>
            <a:endParaRPr sz="112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666750" y="1381125"/>
            <a:ext cx="3333750" cy="1524000"/>
          </a:xfrm>
          <a:prstGeom prst="roundRect">
            <a:avLst>
              <a:gd name="adj" fmla="val 7500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1381125"/>
            <a:ext cx="47625" cy="152400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95350" y="1571625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已完成闭环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95350" y="1933575"/>
            <a:ext cx="2914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文档库上传与选择、智能对话理解与编辑、工作流批处理与输出下载已经贯通。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4429125" y="1381125"/>
            <a:ext cx="3333750" cy="1524000"/>
          </a:xfrm>
          <a:prstGeom prst="roundRect">
            <a:avLst>
              <a:gd name="adj" fmla="val 7500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4429125" y="1381125"/>
            <a:ext cx="47625" cy="1524000"/>
          </a:xfrm>
          <a:prstGeom prst="rect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4657725" y="1571625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关键增强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657725" y="1933575"/>
            <a:ext cx="2914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复杂图结构、自动保存、节点实时进度、失败中断、多文件批处理、分块并发处理。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8191500" y="1381125"/>
            <a:ext cx="3333750" cy="1524000"/>
          </a:xfrm>
          <a:prstGeom prst="roundRect">
            <a:avLst>
              <a:gd name="adj" fmla="val 7500"/>
            </a:avLst>
          </a:prstGeom>
          <a:solidFill>
            <a:srgbClr val="101B2F"/>
          </a:solidFill>
          <a:ln w="9525">
            <a:solidFill>
              <a:srgbClr val="243653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191500" y="1381125"/>
            <a:ext cx="47625" cy="1524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420100" y="1571625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答辩展示重点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420100" y="1933575"/>
            <a:ext cx="2914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PPT说明架构与实现，实机展示模块间联动和真实文档处理结果。</a:t>
            </a:r>
            <a:endParaRPr sz="1275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04875" y="347662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后续优化方向</a:t>
            </a:r>
            <a:endParaRPr sz="1875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椭圆 48"/>
          <p:cNvSpPr>
            <a:spLocks noGrp="1"/>
          </p:cNvSpPr>
          <p:nvPr/>
        </p:nvSpPr>
        <p:spPr>
          <a:xfrm>
            <a:off x="1095375" y="4076700"/>
            <a:ext cx="85725" cy="85725"/>
          </a:xfrm>
          <a:prstGeom prst="ellipse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285875" y="40005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流程模板市场化：沉淀常用流程，减少重复搭建成本。</a:t>
            </a:r>
            <a:endParaRPr sz="1350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>
            <a:off x="1095375" y="4552950"/>
            <a:ext cx="85725" cy="85725"/>
          </a:xfrm>
          <a:prstGeom prst="ellipse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1285875" y="44767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性能与观测：增加耗时统计、任务队列、失败重试和执行审计。</a:t>
            </a:r>
            <a:endParaRPr sz="1350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1095375" y="5029200"/>
            <a:ext cx="85725" cy="85725"/>
          </a:xfrm>
          <a:prstGeom prst="ellipse">
            <a:avLst/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285875" y="49530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A8B5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权限与协作：细化空间权限、共享文档库和多人协同管理。</a:t>
            </a:r>
            <a:endParaRPr sz="1350">
              <a:solidFill>
                <a:srgbClr val="A8B5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238250" y="58102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系统核心价值：把“分散文档”转化为“可管理、可对话、可编排处理”的知识资产。</a:t>
            </a:r>
            <a:endParaRPr sz="165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2630</Words>
  <Application>WPS 演示</Application>
  <PresentationFormat>Converted Presentation</PresentationFormat>
  <Paragraphs>323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康凤轩</cp:lastModifiedBy>
  <cp:revision>3</cp:revision>
  <dcterms:created xsi:type="dcterms:W3CDTF">2026-06-17T09:39:49Z</dcterms:created>
  <dcterms:modified xsi:type="dcterms:W3CDTF">2026-06-17T12:47:40Z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EC8C009099954A52B7BD0DCAE22F9425_12</vt:lpwstr>
  </property>
  <property fmtid="{D5CDD505-2E9C-101B-9397-08002B2CF9AE}" pid="3" name="KSOProductBuildVer">
    <vt:lpwstr>2052-12.1.0.26895</vt:lpwstr>
  </property>
</Properties>
</file>